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63640" y="548640"/>
            <a:ext cx="64008" cy="64008"/>
          </a:xfrm>
          <a:prstGeom prst="ellipse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02552" y="548640"/>
            <a:ext cx="64008" cy="64008"/>
          </a:xfrm>
          <a:prstGeom prst="ellipse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41464" y="548640"/>
            <a:ext cx="64008" cy="64008"/>
          </a:xfrm>
          <a:prstGeom prst="ellipse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0376" y="548640"/>
            <a:ext cx="64008" cy="64008"/>
          </a:xfrm>
          <a:prstGeom prst="ellipse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19288" y="548640"/>
            <a:ext cx="64008" cy="64008"/>
          </a:xfrm>
          <a:prstGeom prst="ellipse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554480"/>
            <a:ext cx="64008" cy="64008"/>
          </a:xfrm>
          <a:prstGeom prst="ellipse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02552" y="1554480"/>
            <a:ext cx="64008" cy="64008"/>
          </a:xfrm>
          <a:prstGeom prst="ellipse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41464" y="1554480"/>
            <a:ext cx="64008" cy="64008"/>
          </a:xfrm>
          <a:prstGeom prst="ellipse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0376" y="1554480"/>
            <a:ext cx="64008" cy="64008"/>
          </a:xfrm>
          <a:prstGeom prst="ellipse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19288" y="1554480"/>
            <a:ext cx="64008" cy="64008"/>
          </a:xfrm>
          <a:prstGeom prst="ellipse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2560320"/>
            <a:ext cx="64008" cy="64008"/>
          </a:xfrm>
          <a:prstGeom prst="ellipse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02552" y="2560320"/>
            <a:ext cx="64008" cy="64008"/>
          </a:xfrm>
          <a:prstGeom prst="ellipse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41464" y="2560320"/>
            <a:ext cx="64008" cy="64008"/>
          </a:xfrm>
          <a:prstGeom prst="ellipse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0376" y="2560320"/>
            <a:ext cx="64008" cy="64008"/>
          </a:xfrm>
          <a:prstGeom prst="ellipse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19288" y="2560320"/>
            <a:ext cx="64008" cy="64008"/>
          </a:xfrm>
          <a:prstGeom prst="ellipse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3566160"/>
            <a:ext cx="64008" cy="64008"/>
          </a:xfrm>
          <a:prstGeom prst="ellipse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02552" y="3566160"/>
            <a:ext cx="64008" cy="64008"/>
          </a:xfrm>
          <a:prstGeom prst="ellipse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41464" y="3566160"/>
            <a:ext cx="64008" cy="64008"/>
          </a:xfrm>
          <a:prstGeom prst="ellipse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0376" y="3566160"/>
            <a:ext cx="64008" cy="64008"/>
          </a:xfrm>
          <a:prstGeom prst="ellipse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19288" y="3566160"/>
            <a:ext cx="64008" cy="64008"/>
          </a:xfrm>
          <a:prstGeom prst="ellipse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548640"/>
            <a:ext cx="228600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5486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ENTERPRISE PAYMENTS PORTAL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11480" y="100584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Merchant360</a:t>
            </a:r>
            <a:endParaRPr lang="en-US" sz="5200" dirty="0"/>
          </a:p>
        </p:txBody>
      </p:sp>
      <p:sp>
        <p:nvSpPr>
          <p:cNvPr id="27" name="Text 25"/>
          <p:cNvSpPr/>
          <p:nvPr/>
        </p:nvSpPr>
        <p:spPr>
          <a:xfrm>
            <a:off x="411480" y="19202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Operations Portal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411480" y="2542032"/>
            <a:ext cx="38404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651760"/>
            <a:ext cx="5303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microservices platform for transaction management,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processing, dispute resolution &amp; merchant analytics.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production-grade standards with TypeScript throughout.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11480" y="3977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</a:rPr>
              <a:t>10k+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11480" y="44074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Transactions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737360" y="3977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737360" y="44074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Services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063240" y="3977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</a:rPr>
              <a:t>3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063240" y="44074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User Roles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389120" y="3977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</a:rPr>
              <a:t>100%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389120" y="44074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TypeScript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63640" y="502920"/>
            <a:ext cx="2514600" cy="640080"/>
          </a:xfrm>
          <a:prstGeom prst="rect">
            <a:avLst/>
          </a:prstGeom>
          <a:solidFill>
            <a:srgbClr val="1624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5029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Next.js 14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63640" y="1371600"/>
            <a:ext cx="2514600" cy="640080"/>
          </a:xfrm>
          <a:prstGeom prst="rect">
            <a:avLst/>
          </a:prstGeom>
          <a:solidFill>
            <a:srgbClr val="1624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13716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GraphQL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263640" y="2240280"/>
            <a:ext cx="2514600" cy="640080"/>
          </a:xfrm>
          <a:prstGeom prst="rect">
            <a:avLst/>
          </a:prstGeom>
          <a:solidFill>
            <a:srgbClr val="1624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22402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MongoDB 7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263640" y="3108960"/>
            <a:ext cx="2514600" cy="640080"/>
          </a:xfrm>
          <a:prstGeom prst="rect">
            <a:avLst/>
          </a:prstGeom>
          <a:solidFill>
            <a:srgbClr val="1624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31089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Keycloak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263640" y="3977640"/>
            <a:ext cx="2514600" cy="640080"/>
          </a:xfrm>
          <a:prstGeom prst="rect">
            <a:avLst/>
          </a:prstGeom>
          <a:solidFill>
            <a:srgbClr val="1624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63640" y="39776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Docker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Product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877824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Merchant360 is a production-grade enterprise payments console simulating real-world fintech operations — demonstrating senior full-stack engineering across the entire product lifecycle.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27632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27632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91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Transaction Management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97510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Paginated search, sort &amp; filter across 10k+ transactions with status tracking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627632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627632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91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Refund Processing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97510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Full &amp; partial refunds with idempotency keys, audit trail &amp; real-time status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670048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70048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340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Dispute Resolution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01752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Chargeback lifecycle management with merchant-scoped visibility controls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670048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670048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7340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Merchant Management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01752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Admin panel for merchant onboarding, status control &amp; role assignment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712464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712464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7764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Analytics Dashboard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05993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Real-time KPI cards, refund rate gauges &amp; transaction trend monitoring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712464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712464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7764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OAuth2 / PKCE Auth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405993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Keycloak SSO with role-based access: admin / analyst / merchant personas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005840" cy="548640"/>
          </a:xfrm>
          <a:prstGeom prst="rect">
            <a:avLst/>
          </a:prstGeom>
          <a:solidFill>
            <a:srgbClr val="1624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EEAD4"/>
                </a:solidFill>
              </a:rPr>
              <a:t>Browser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1005840" cy="548640"/>
          </a:xfrm>
          <a:prstGeom prst="rect">
            <a:avLst/>
          </a:prstGeom>
          <a:solidFill>
            <a:srgbClr val="1624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19072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EEAD4"/>
                </a:solidFill>
              </a:rPr>
              <a:t>Frontend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2478024"/>
            <a:ext cx="1005840" cy="548640"/>
          </a:xfrm>
          <a:prstGeom prst="rect">
            <a:avLst/>
          </a:prstGeom>
          <a:solidFill>
            <a:srgbClr val="1624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478024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EEAD4"/>
                </a:solidFill>
              </a:rPr>
              <a:t>API Layer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3236976"/>
            <a:ext cx="1005840" cy="548640"/>
          </a:xfrm>
          <a:prstGeom prst="rect">
            <a:avLst/>
          </a:prstGeom>
          <a:solidFill>
            <a:srgbClr val="1624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236976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EEAD4"/>
                </a:solidFill>
              </a:rPr>
              <a:t>Services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3995928"/>
            <a:ext cx="1005840" cy="548640"/>
          </a:xfrm>
          <a:prstGeom prst="rect">
            <a:avLst/>
          </a:prstGeom>
          <a:solidFill>
            <a:srgbClr val="1624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99592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EEAD4"/>
                </a:solidFill>
              </a:rPr>
              <a:t>Data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463040" y="1627632"/>
            <a:ext cx="72694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463040" y="2386584"/>
            <a:ext cx="72694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463040" y="3145536"/>
            <a:ext cx="72694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463040" y="3904488"/>
            <a:ext cx="726948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200400" y="1005840"/>
            <a:ext cx="2743200" cy="457200"/>
          </a:xfrm>
          <a:prstGeom prst="rect">
            <a:avLst/>
          </a:prstGeom>
          <a:solidFill>
            <a:srgbClr val="1A3050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0" y="1005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D34D"/>
                </a:solidFill>
              </a:rPr>
              <a:t>User Browser  (Chrome / Edge / Firefox)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0" y="1764792"/>
            <a:ext cx="4572000" cy="457200"/>
          </a:xfrm>
          <a:prstGeom prst="rect">
            <a:avLst/>
          </a:prstGeom>
          <a:solidFill>
            <a:srgbClr val="1A305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286000" y="176479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</a:rPr>
              <a:t>Next.js 14  (App Router · SSR · Tailwind CSS · AES-GCM Session · OAuth2 PKCE)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0" y="2523744"/>
            <a:ext cx="3657600" cy="457200"/>
          </a:xfrm>
          <a:prstGeom prst="rect">
            <a:avLst/>
          </a:prstGeom>
          <a:solidFill>
            <a:srgbClr val="1A305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0" y="252374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</a:rPr>
              <a:t>Apollo GraphQL Gateway  (Auth context · RBAC · Federation)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508760" y="3282696"/>
            <a:ext cx="1645920" cy="512064"/>
          </a:xfrm>
          <a:prstGeom prst="rect">
            <a:avLst/>
          </a:prstGeom>
          <a:solidFill>
            <a:srgbClr val="16243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508760" y="3282696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Payment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:3001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337560" y="3282696"/>
            <a:ext cx="1645920" cy="512064"/>
          </a:xfrm>
          <a:prstGeom prst="rect">
            <a:avLst/>
          </a:prstGeom>
          <a:solidFill>
            <a:srgbClr val="16243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37560" y="3282696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Refund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:3002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166360" y="3282696"/>
            <a:ext cx="1645920" cy="512064"/>
          </a:xfrm>
          <a:prstGeom prst="rect">
            <a:avLst/>
          </a:prstGeom>
          <a:solidFill>
            <a:srgbClr val="16243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166360" y="3282696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Merchant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:3003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995160" y="3282696"/>
            <a:ext cx="1645920" cy="512064"/>
          </a:xfrm>
          <a:prstGeom prst="rect">
            <a:avLst/>
          </a:prstGeom>
          <a:solidFill>
            <a:srgbClr val="16243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995160" y="3282696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Notification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:3004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508760" y="4041648"/>
            <a:ext cx="3200400" cy="457200"/>
          </a:xfrm>
          <a:prstGeom prst="rect">
            <a:avLst/>
          </a:prstGeom>
          <a:solidFill>
            <a:srgbClr val="162435"/>
          </a:solidFill>
          <a:ln w="12700">
            <a:solidFill>
              <a:srgbClr val="4ADE8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508760" y="404164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</a:rPr>
              <a:t>MongoDB 7  (4 collections · indexed)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83480" y="4041648"/>
            <a:ext cx="2834640" cy="457200"/>
          </a:xfrm>
          <a:prstGeom prst="rect">
            <a:avLst/>
          </a:prstGeom>
          <a:solidFill>
            <a:srgbClr val="162435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83480" y="404164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CD34D"/>
                </a:solidFill>
              </a:rPr>
              <a:t>Keycloak 24  (PKCE · Realms · JWT)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909560" y="4041648"/>
            <a:ext cx="868680" cy="457200"/>
          </a:xfrm>
          <a:prstGeom prst="rect">
            <a:avLst/>
          </a:prstGeom>
          <a:solidFill>
            <a:srgbClr val="0E4F8A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09560" y="4041648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Docker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Compose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572000" y="1463040"/>
            <a:ext cx="0" cy="30175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0" y="2221992"/>
            <a:ext cx="0" cy="30175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0" y="2980944"/>
            <a:ext cx="0" cy="301752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0" y="3794760"/>
            <a:ext cx="0" cy="24688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Tech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029968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80744"/>
            <a:ext cx="202996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9768" y="1627632"/>
            <a:ext cx="82296" cy="822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" y="1536192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Next.js 14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App Router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9768" y="2267712"/>
            <a:ext cx="82296" cy="822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" y="2176272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TypeScript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strict mode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9768" y="2907792"/>
            <a:ext cx="82296" cy="822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" y="2816352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Tailwind CSS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responsive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9768" y="3547872"/>
            <a:ext cx="82296" cy="822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" y="3456432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React Server Components  </a:t>
            </a:r>
            <a:pPr indent="0" marL="0">
              <a:buNone/>
            </a:pP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9768" y="4187952"/>
            <a:ext cx="82296" cy="822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" y="4096512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Web Crypto API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AES-GCM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468880" y="960120"/>
            <a:ext cx="2029968" cy="42062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960120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Backend / API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68880" y="1380744"/>
            <a:ext cx="202996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78608" y="1627632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06624" y="1536192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Node.js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Express / Fastify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78608" y="2267712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06624" y="2176272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Apollo GraphQL Gateway  </a:t>
            </a:r>
            <a:pPr indent="0" marL="0">
              <a:buNone/>
            </a:pP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78608" y="2907792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06624" y="2816352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Zod input validation  </a:t>
            </a:r>
            <a:pPr indent="0" marL="0">
              <a:buNone/>
            </a:pP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78608" y="3547872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06624" y="3456432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Pino structured logging  </a:t>
            </a:r>
            <a:pPr indent="0" marL="0">
              <a:buNone/>
            </a:pP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78608" y="4187952"/>
            <a:ext cx="82296" cy="8229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06624" y="4096512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JWT service-to-service  </a:t>
            </a:r>
            <a:pPr indent="0" marL="0">
              <a:buNone/>
            </a:pP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0" y="960120"/>
            <a:ext cx="2029968" cy="4206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960120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&amp; Auth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17720" y="1380744"/>
            <a:ext cx="202996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27448" y="1627632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55464" y="1536192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MongoDB 7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4 collections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27448" y="2267712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55464" y="2176272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Indexes on key fields  </a:t>
            </a:r>
            <a:pPr indent="0" marL="0">
              <a:buNone/>
            </a:pP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27448" y="2907792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55464" y="2816352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Keycloak 24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PKCE/OIDC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27448" y="3547872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55464" y="3456432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Role-based access control  </a:t>
            </a:r>
            <a:pPr indent="0" marL="0">
              <a:buNone/>
            </a:pP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27448" y="4187952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5464" y="4096512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httpOnly encrypted cookies  </a:t>
            </a:r>
            <a:pPr indent="0" marL="0">
              <a:buNone/>
            </a:pP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766560" y="960120"/>
            <a:ext cx="2029968" cy="42062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66560" y="960120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DevOps &amp; Tests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766560" y="1380744"/>
            <a:ext cx="202996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876288" y="1627632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04304" y="1536192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Docker Compose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9 services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876288" y="2267712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04304" y="2176272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Turborepo monorepo  </a:t>
            </a:r>
            <a:pPr indent="0" marL="0">
              <a:buNone/>
            </a:pP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876288" y="2907792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04304" y="2816352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Playwright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E2E tests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876288" y="3547872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04304" y="3456432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Vitest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API / GraphQL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876288" y="4187952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04304" y="4096512"/>
            <a:ext cx="1719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F3D"/>
                </a:solidFill>
              </a:rPr>
              <a:t>GitHub Actions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CI/CD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11480" y="484632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npm workspaces · packages/shared-types · packages/shared-utils · production Dockerfiles for all services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Implementation Highlights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6400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097280"/>
            <a:ext cx="384048" cy="2926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0972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EAD4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87552" y="106984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Two-Cookie Session Strategy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1472184"/>
            <a:ext cx="3840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Small AES-GCM encrypted identity cookie (~200 bytes) read by Edge middleware for every request; full TokenSet cookie read only by Node.js API routes — keeps Edge runtime fast while preserving the full Keycloak token lifecycle.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6400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10328" y="1097280"/>
            <a:ext cx="384048" cy="2926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10972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EAD4"/>
                </a:solidFill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76672" y="106984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Stateless PKCE Flow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9472" y="1472184"/>
            <a:ext cx="3840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codeVerifier + callbackUrl embedded as base64url JSON in the OAuth state param, eliminating SameSite=Lax cookie drop on cross-origin Keycloak redirects — zero server-side session state required.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80360"/>
            <a:ext cx="6400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" y="3017520"/>
            <a:ext cx="384048" cy="2926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0175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EAD4"/>
                </a:solidFill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87552" y="299008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Idempotent Refund Engine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" y="3392424"/>
            <a:ext cx="3840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Refund service enforces idempotency keys, validates partial amounts against the remaining refundable balance, maintains a full audit trail, and rejects duplicate keys — mirrors real payments processor behaviour.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8803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880360"/>
            <a:ext cx="6400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10328" y="3017520"/>
            <a:ext cx="384048" cy="2926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30175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EAD4"/>
                </a:solidFill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76672" y="299008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Playwright Fixture Architecture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19472" y="3392424"/>
            <a:ext cx="3840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capturedTxnId fixture queries payment-service before each test to guarantee a CAPTURED transaction exists — eliminates flakiness from prior test runs. Page object model + global storageState auth setup.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1480" y="47731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Built with strict TypeScript throughout — shared-types package ensures consistent domain models across all services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OAuth2 PKCE Authentication 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" y="1005840"/>
            <a:ext cx="804672" cy="804672"/>
          </a:xfrm>
          <a:prstGeom prst="ellipse">
            <a:avLst/>
          </a:prstGeom>
          <a:solidFill>
            <a:srgbClr val="0D9488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0584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901952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User clicks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'Continue with SSO'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581912" y="1408176"/>
            <a:ext cx="74980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1005840"/>
            <a:ext cx="804672" cy="804672"/>
          </a:xfrm>
          <a:prstGeom prst="ellipse">
            <a:avLst/>
          </a:prstGeom>
          <a:solidFill>
            <a:srgbClr val="0D9488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00584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65960" y="1901952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PKCE challenge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generated (S256)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82112" y="1408176"/>
            <a:ext cx="74980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77640" y="1005840"/>
            <a:ext cx="804672" cy="804672"/>
          </a:xfrm>
          <a:prstGeom prst="ellipse">
            <a:avLst/>
          </a:prstGeom>
          <a:solidFill>
            <a:srgbClr val="0D9488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77640" y="100584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66160" y="1901952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Redirect to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Keycloak login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82312" y="1408176"/>
            <a:ext cx="74980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1005840"/>
            <a:ext cx="804672" cy="804672"/>
          </a:xfrm>
          <a:prstGeom prst="ellipse">
            <a:avLst/>
          </a:prstGeom>
          <a:solidFill>
            <a:srgbClr val="0D9488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100584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66360" y="1901952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Credentials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verified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382512" y="1408176"/>
            <a:ext cx="74980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78040" y="1005840"/>
            <a:ext cx="804672" cy="804672"/>
          </a:xfrm>
          <a:prstGeom prst="ellipse">
            <a:avLst/>
          </a:prstGeom>
          <a:solidFill>
            <a:srgbClr val="0D9488"/>
          </a:solidFill>
          <a:ln w="19050">
            <a:solidFill>
              <a:srgbClr val="5EEA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100584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66560" y="1901952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Auth code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returned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051560" y="2788920"/>
            <a:ext cx="804672" cy="804672"/>
          </a:xfrm>
          <a:prstGeom prst="ellipse">
            <a:avLst/>
          </a:prstGeom>
          <a:solidFill>
            <a:srgbClr val="162435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278892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EAD4"/>
                </a:solidFill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3685032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Token exchange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/api/auth/callback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856232" y="3191256"/>
            <a:ext cx="120700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2788920"/>
            <a:ext cx="804672" cy="804672"/>
          </a:xfrm>
          <a:prstGeom prst="ellipse">
            <a:avLst/>
          </a:prstGeom>
          <a:solidFill>
            <a:srgbClr val="162435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278892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EAD4"/>
                </a:solidFill>
              </a:rPr>
              <a:t>7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788920" y="3685032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AES-GCM encrypt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two session cookies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005072" y="3191256"/>
            <a:ext cx="120700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49240" y="2788920"/>
            <a:ext cx="804672" cy="804672"/>
          </a:xfrm>
          <a:prstGeom prst="ellipse">
            <a:avLst/>
          </a:prstGeom>
          <a:solidFill>
            <a:srgbClr val="162435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49240" y="278892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EAD4"/>
                </a:solidFill>
              </a:rPr>
              <a:t>8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937760" y="3685032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Edge middleware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decrypts m360_session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53912" y="3191256"/>
            <a:ext cx="120700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0" y="2788920"/>
            <a:ext cx="804672" cy="804672"/>
          </a:xfrm>
          <a:prstGeom prst="ellipse">
            <a:avLst/>
          </a:prstGeom>
          <a:solidFill>
            <a:srgbClr val="162435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0" y="2788920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EAD4"/>
                </a:solidFill>
              </a:rPr>
              <a:t>9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086600" y="3685032"/>
            <a:ext cx="16276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User lands 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/dashboard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982712" y="1810512"/>
            <a:ext cx="0" cy="97840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44752" y="2788920"/>
            <a:ext cx="6537960" cy="0"/>
          </a:xfrm>
          <a:prstGeom prst="line">
            <a:avLst/>
          </a:prstGeom>
          <a:noFill/>
          <a:ln w="12700">
            <a:solidFill>
              <a:srgbClr val="1E3A52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365760" y="4315968"/>
            <a:ext cx="8412480" cy="530352"/>
          </a:xfrm>
          <a:prstGeom prst="rect">
            <a:avLst/>
          </a:prstGeom>
          <a:solidFill>
            <a:srgbClr val="1624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31596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CD34D"/>
                </a:solidFill>
              </a:rPr>
              <a:t>m360_session</a:t>
            </a:r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  ~200B  user identity  read by Edge middleware on every request  |  </a:t>
            </a:r>
            <a:pPr algn="ctr" indent="0" marL="0">
              <a:buNone/>
            </a:pPr>
            <a:r>
              <a:rPr lang="en-US" sz="900" b="1" dirty="0">
                <a:solidFill>
                  <a:srgbClr val="5EEAD4"/>
                </a:solidFill>
              </a:rPr>
              <a:t>m360_session_tok</a:t>
            </a:r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  full Keycloak TokenSet  read by Node.js API routes only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Microservices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4114800" cy="420624"/>
          </a:xfrm>
          <a:prstGeom prst="rect">
            <a:avLst/>
          </a:prstGeom>
          <a:solidFill>
            <a:srgbClr val="0A7A70"/>
          </a:solidFill>
          <a:ln w="12700">
            <a:solidFill>
              <a:srgbClr val="0A7A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7840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payment-service  :3001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978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FD4E0"/>
                </a:solidFill>
              </a:rPr>
              <a:t>Transactions CRUD &amp; search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93776" y="143560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  </a:t>
            </a:r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</a:rPr>
              <a:t>GET /v1/transactions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  paginated + filterable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3776" y="175564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  </a:t>
            </a:r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</a:rPr>
              <a:t>GET /v1/transactions/:id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  single record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3776" y="207568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  </a:t>
            </a:r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</a:rPr>
              <a:t>MongoDB transactions collection</a:t>
            </a:r>
            <a:pPr indent="0" marL="0">
              <a:buNone/>
            </a:pP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" y="239572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  </a:t>
            </a:r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</a:rPr>
              <a:t>Zod schema validation + Pino logging</a:t>
            </a:r>
            <a:pPr indent="0" marL="0">
              <a:buNone/>
            </a:pP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411480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960120"/>
            <a:ext cx="4114800" cy="420624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97840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refund-service  :3002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11978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FD4E0"/>
                </a:solidFill>
              </a:rPr>
              <a:t>Idempotent refund processing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82896" y="143560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46E5"/>
                </a:solidFill>
              </a:rPr>
              <a:t>  </a:t>
            </a:r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</a:rPr>
              <a:t>POST /v1/refunds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  idempotency key required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82896" y="175564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46E5"/>
                </a:solidFill>
              </a:rPr>
              <a:t>  </a:t>
            </a:r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</a:rPr>
              <a:t>Validates against remaining refundable balance</a:t>
            </a:r>
            <a:pPr indent="0" marL="0">
              <a:buNone/>
            </a:pP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82896" y="207568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46E5"/>
                </a:solidFill>
              </a:rPr>
              <a:t>  </a:t>
            </a:r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</a:rPr>
              <a:t>Calls payment-service to verify transaction state</a:t>
            </a:r>
            <a:pPr indent="0" marL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82896" y="239572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46E5"/>
                </a:solidFill>
              </a:rPr>
              <a:t>  </a:t>
            </a:r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</a:rPr>
              <a:t>Audit trail persisted to refunds collection</a:t>
            </a:r>
            <a:pPr indent="0" marL="0">
              <a:buNone/>
            </a:pP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898648"/>
            <a:ext cx="411480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898648"/>
            <a:ext cx="4114800" cy="42062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9169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merchant-service  :3003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3136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FD4E0"/>
                </a:solidFill>
              </a:rPr>
              <a:t>Merchant profile management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93776" y="337413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  </a:t>
            </a:r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</a:rPr>
              <a:t>CRUD endpoints for merchant profiles</a:t>
            </a:r>
            <a:pPr indent="0" marL="0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" y="369417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  </a:t>
            </a:r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</a:rPr>
              <a:t>Status management: active / suspended</a:t>
            </a:r>
            <a:pPr indent="0" marL="0">
              <a:buNone/>
            </a:pP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" y="401421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  </a:t>
            </a:r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</a:rPr>
              <a:t>Role-scoped — merchants see own data only</a:t>
            </a:r>
            <a:pPr indent="0" marL="0">
              <a:buNone/>
            </a:pP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" y="433425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  </a:t>
            </a:r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</a:rPr>
              <a:t>Admin endpoints for onboarding workflows</a:t>
            </a:r>
            <a:pPr indent="0" marL="0">
              <a:buNone/>
            </a:pP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898648"/>
            <a:ext cx="411480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898648"/>
            <a:ext cx="4114800" cy="42062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9169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notification-service  :3004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46320" y="31363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FD4E0"/>
                </a:solidFill>
              </a:rPr>
              <a:t>Webhook / email dispatch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82896" y="337413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</a:rPr>
              <a:t>  </a:t>
            </a:r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</a:rPr>
              <a:t>Receives internal events from other services</a:t>
            </a:r>
            <a:pPr indent="0" marL="0">
              <a:buNone/>
            </a:pP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82896" y="369417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</a:rPr>
              <a:t>  </a:t>
            </a:r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</a:rPr>
              <a:t>Email notification simulation</a:t>
            </a:r>
            <a:pPr indent="0" marL="0">
              <a:buNone/>
            </a:pP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82896" y="401421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</a:rPr>
              <a:t>  </a:t>
            </a:r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</a:rPr>
              <a:t>Webhook dispatch with retry logic</a:t>
            </a:r>
            <a:pPr indent="0" marL="0">
              <a:buNone/>
            </a:pP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82896" y="433425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</a:rPr>
              <a:t>  </a:t>
            </a:r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</a:rPr>
              <a:t>In-memory store for demo — easily swapped</a:t>
            </a:r>
            <a:pPr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Testing Strategy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3657600" cy="1097280"/>
          </a:xfrm>
          <a:prstGeom prst="rect">
            <a:avLst/>
          </a:prstGeom>
          <a:solidFill>
            <a:srgbClr val="0F1F3D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Playwright E2E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FFFFFF"/>
                </a:solidFill>
              </a:rPr>
              <a:t>9 test suites</a:t>
            </a:r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  Login · Refund flow · Role restrictions · Search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2267712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267712"/>
            <a:ext cx="6400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13432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</a:rPr>
              <a:t>API &amp; GraphQL Tests  (Vitest)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65176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  Service endpoint integration tests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  GraphQL query &amp; mutation validation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3547872"/>
            <a:ext cx="3657600" cy="109728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547872"/>
            <a:ext cx="64008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93592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Unit Tests  (Vitest)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93192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  Business logic · validation schemas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  Utility functions · shared packages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80560" y="987552"/>
            <a:ext cx="4297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987552"/>
            <a:ext cx="64008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04241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</a:rPr>
              <a:t>Playwright Suites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17720" y="135331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  OAuth login flow — 9 describe groups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17720" y="156362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  Refund flow — 6 suites, 15+ tests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17720" y="177393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  Role restrictions per persona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17720" y="198424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  Transaction search &amp; filter behaviour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480560" y="2386584"/>
            <a:ext cx="4297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0560" y="2386584"/>
            <a:ext cx="64008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244144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</a:rPr>
              <a:t>Fixtures &amp; Reliability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17720" y="275234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  capturedTxnId — queries payment-service before each test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17720" y="296265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  fileURLToPath — Windows double-drive bug resolved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17720" y="317296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  Global auth setup saves storageState once per worker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17720" y="338328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  Page object model across all UI tests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480560" y="3785616"/>
            <a:ext cx="4297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80560" y="3785616"/>
            <a:ext cx="64008" cy="12618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38404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</a:rPr>
              <a:t>CI Pipeline  (GitHub Actions)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617720" y="415137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  lint → typecheck → unit → integration → Playwright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617720" y="436168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  Turbo parallel execution across workspace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617720" y="457200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  Artifacts: HTML report, JUnit XML, screenshots on failure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Model  —  MongoDB Collections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029968" cy="365760"/>
          </a:xfrm>
          <a:prstGeom prst="rect">
            <a:avLst/>
          </a:prstGeom>
          <a:solidFill>
            <a:srgbClr val="0A7A70"/>
          </a:solidFill>
          <a:ln w="12700">
            <a:solidFill>
              <a:srgbClr val="0A7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transactions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2029968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25880"/>
            <a:ext cx="202996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4904" y="1444752"/>
            <a:ext cx="292608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" y="144475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IDX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722376" y="135331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</a:rPr>
              <a:t>transactionId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856232"/>
            <a:ext cx="2029968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" y="1975104"/>
            <a:ext cx="292608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" y="197510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IDX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722376" y="1883664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</a:rPr>
              <a:t>merchantId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386584"/>
            <a:ext cx="202996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" y="2542032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414016"/>
            <a:ext cx="1709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amount · currency · status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916936"/>
            <a:ext cx="2029968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" y="3035808"/>
            <a:ext cx="292608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" y="30358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IDX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722376" y="294436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</a:rPr>
              <a:t>createdAt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447288"/>
            <a:ext cx="202996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" y="3602736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474720"/>
            <a:ext cx="1709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cardLast4 · metadata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977640"/>
            <a:ext cx="2029968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" y="4133088"/>
            <a:ext cx="73152" cy="731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005072"/>
            <a:ext cx="1709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refundedAmount · refundable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68880" y="960120"/>
            <a:ext cx="2029968" cy="36576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68880" y="96012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refunds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468880" y="1325880"/>
            <a:ext cx="2029968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468880" y="1325880"/>
            <a:ext cx="202996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78608" y="1481328"/>
            <a:ext cx="73152" cy="7315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15768" y="1353312"/>
            <a:ext cx="1709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refundId · transactionId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468880" y="1856232"/>
            <a:ext cx="2029968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23744" y="1975104"/>
            <a:ext cx="292608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23744" y="197510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IDX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871216" y="1883664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</a:rPr>
              <a:t>idempotencyKey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468880" y="2386584"/>
            <a:ext cx="202996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78608" y="2542032"/>
            <a:ext cx="73152" cy="7315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15768" y="2414016"/>
            <a:ext cx="1709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amount · currency · status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468880" y="2916936"/>
            <a:ext cx="2029968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78608" y="3072384"/>
            <a:ext cx="73152" cy="7315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15768" y="2944368"/>
            <a:ext cx="1709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reason · createdAt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468880" y="3447288"/>
            <a:ext cx="202996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78608" y="3602736"/>
            <a:ext cx="73152" cy="7315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15768" y="3474720"/>
            <a:ext cx="1709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requestedBy · processedAt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468880" y="3977640"/>
            <a:ext cx="2029968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78608" y="4133088"/>
            <a:ext cx="73152" cy="7315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15768" y="4005072"/>
            <a:ext cx="1709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type: full | partial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17720" y="960120"/>
            <a:ext cx="2029968" cy="3657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17720" y="96012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merchants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617720" y="1325880"/>
            <a:ext cx="2029968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17720" y="1325880"/>
            <a:ext cx="202996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72584" y="1444752"/>
            <a:ext cx="292608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72584" y="144475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IDX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5020056" y="135331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F3D"/>
                </a:solidFill>
              </a:rPr>
              <a:t>merchantId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17720" y="1856232"/>
            <a:ext cx="2029968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27448" y="2011680"/>
            <a:ext cx="73152" cy="731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64608" y="1883664"/>
            <a:ext cx="1709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name · country · currency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617720" y="2386584"/>
            <a:ext cx="202996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727448" y="2542032"/>
            <a:ext cx="73152" cy="731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64608" y="2414016"/>
            <a:ext cx="1709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status: active | suspended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17720" y="2916936"/>
            <a:ext cx="2029968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27448" y="3072384"/>
            <a:ext cx="73152" cy="731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64608" y="2944368"/>
            <a:ext cx="1709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contactEmail · createdAt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617720" y="3447288"/>
            <a:ext cx="202996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727448" y="3602736"/>
            <a:ext cx="73152" cy="731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64608" y="3474720"/>
            <a:ext cx="1709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webhookUrl · settings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617720" y="3977640"/>
            <a:ext cx="2029968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27448" y="4133088"/>
            <a:ext cx="73152" cy="731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864608" y="4005072"/>
            <a:ext cx="1709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tier · transactionLimit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766560" y="960120"/>
            <a:ext cx="2029968" cy="3657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766560" y="96012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users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6766560" y="1325880"/>
            <a:ext cx="2029968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766560" y="1325880"/>
            <a:ext cx="202996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876288" y="1481328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013448" y="1353312"/>
            <a:ext cx="1709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userId · keycloakId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766560" y="1856232"/>
            <a:ext cx="2029968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876288" y="2011680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013448" y="1883664"/>
            <a:ext cx="1709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email · role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766560" y="2386584"/>
            <a:ext cx="202996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876288" y="2542032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013448" y="2414016"/>
            <a:ext cx="1709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merchantId  (merchant role)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766560" y="2916936"/>
            <a:ext cx="2029968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876288" y="3072384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013448" y="2944368"/>
            <a:ext cx="1709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createdAt · lastLogin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6766560" y="3447288"/>
            <a:ext cx="2029968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876288" y="3602736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013448" y="3474720"/>
            <a:ext cx="1709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status: active | disabled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6766560" y="3977640"/>
            <a:ext cx="2029968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876288" y="4133088"/>
            <a:ext cx="73152" cy="731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013448" y="4005072"/>
            <a:ext cx="1709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permissions[]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0040" y="4782312"/>
            <a:ext cx="8503920" cy="2743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20040" y="478231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IDX = indexed field     Seed data: 10,000 transactions across 5 merchants  (CAPTURED 50%  REFUNDED 15%  AUTHORIZED 15%  CHARGEBACK 10%  FAILED 10%)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DevOps &amp; Deployment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23360" cy="384048"/>
          </a:xfrm>
          <a:prstGeom prst="rect">
            <a:avLst/>
          </a:prstGeom>
          <a:solidFill>
            <a:srgbClr val="0E4F8A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Docker Compose  —  9 Services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44168"/>
            <a:ext cx="4023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4416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mongo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57400" y="134416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MongoDB 7 + health check + seed profile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792224"/>
            <a:ext cx="40233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9222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keycloak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57400" y="1792224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Keycloak 24 with auto-imported realm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4023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4028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payment-service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57400" y="224028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Express REST API  —  port 3001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688336"/>
            <a:ext cx="40233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8833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refund-service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57400" y="2688336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Express REST API  —  port 3002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136392"/>
            <a:ext cx="4023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13639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merchant-service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57400" y="3136392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Express REST API  —  port 3003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584448"/>
            <a:ext cx="40233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58444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notification-service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57400" y="358444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Express REST API  —  port 3004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4032504"/>
            <a:ext cx="4023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03250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graphql-gateway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057400" y="4032504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Apollo Server 4  —  port 4000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4480560"/>
            <a:ext cx="40233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4805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web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057400" y="448056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Next.js 14 production build  —  port 3000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17720" y="960120"/>
            <a:ext cx="416052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17720" y="960120"/>
            <a:ext cx="64008" cy="9692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10149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</a:rPr>
              <a:t>GitHub Actions CI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54880" y="129844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lint  →  typecheck  →  unit tests  →  integration  →  Playwright smoke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Artifacts: HTML report, JUnit XML, failure screenshots &amp; videos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17720" y="2002536"/>
            <a:ext cx="416052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17720" y="2002536"/>
            <a:ext cx="64008" cy="9692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0574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</a:rPr>
              <a:t>Turborepo Monorepo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54880" y="234086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npm workspaces with shared-types and shared-utils packages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Parallel builds across all services via turbo.json pipeline config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17720" y="3044952"/>
            <a:ext cx="416052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17720" y="3044952"/>
            <a:ext cx="64008" cy="9692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0998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</a:rPr>
              <a:t>Environment Strategy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754880" y="33832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.env  local only, gitignored — never committed to repository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.env.example  committed template with placeholder values only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docker-compose.yml  uses :? syntax — errors if required vars unset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17720" y="4087368"/>
            <a:ext cx="416052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17720" y="4087368"/>
            <a:ext cx="64008" cy="9692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41422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F3D"/>
                </a:solidFill>
              </a:rPr>
              <a:t>Cloud Deployment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754880" y="442569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Recommended: GCP Cloud Run (scale-to-zero) + MongoDB Atlas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75569"/>
                </a:solidFill>
              </a:rPr>
              <a:t>Alternative: Hetzner CX22 VPS  docker compose up  ~6 USD/month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This Demonstrates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1024128"/>
          </a:xfrm>
          <a:prstGeom prst="rect">
            <a:avLst/>
          </a:prstGeom>
          <a:solidFill>
            <a:srgbClr val="162435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64008" cy="10241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069848"/>
            <a:ext cx="64008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0698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FULL-STACK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234440" y="10332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Full-Stack Depth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" y="1344168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Next.js SSR + 4 Express microservices + Apollo GraphQL — all wired end-to-end in a single Docker Compose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114800" cy="1024128"/>
          </a:xfrm>
          <a:prstGeom prst="rect">
            <a:avLst/>
          </a:prstGeom>
          <a:solidFill>
            <a:srgbClr val="162435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64008" cy="10241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10328" y="1069848"/>
            <a:ext cx="640080" cy="20116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10698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AUTH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5623560" y="10332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Production Auth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0328" y="1344168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Real OAuth2 PKCE flow with Keycloak, two-cookie AES-GCM session strategy, Edge middleware RBAC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176272"/>
            <a:ext cx="4114800" cy="1024128"/>
          </a:xfrm>
          <a:prstGeom prst="rect">
            <a:avLst/>
          </a:prstGeom>
          <a:solidFill>
            <a:srgbClr val="162435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176272"/>
            <a:ext cx="64008" cy="10241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" y="2286000"/>
            <a:ext cx="64008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22860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TESTING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234440" y="22494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Engineering Rigour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" y="2560320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Playwright E2E, Vitest API/GraphQL tests, CI pipeline, page object model, deterministic test fixtures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176272"/>
            <a:ext cx="4114800" cy="1024128"/>
          </a:xfrm>
          <a:prstGeom prst="rect">
            <a:avLst/>
          </a:prstGeom>
          <a:solidFill>
            <a:srgbClr val="162435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176272"/>
            <a:ext cx="64008" cy="10241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10328" y="2286000"/>
            <a:ext cx="64008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22860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PAYMENTS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5623560" y="22494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Payments Domain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10328" y="2560320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Idempotent refunds, partial refund validation, transaction lifecycle, chargeback — fintech-accurate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392424"/>
            <a:ext cx="4114800" cy="1024128"/>
          </a:xfrm>
          <a:prstGeom prst="rect">
            <a:avLst/>
          </a:prstGeom>
          <a:solidFill>
            <a:srgbClr val="162435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392424"/>
            <a:ext cx="64008" cy="10241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1208" y="3502152"/>
            <a:ext cx="64008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" y="35021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MONOREPO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1234440" y="34655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Monorepo Architecture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1208" y="3776472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Turborepo + npm workspaces with shared-types, shared-utils packages and independent service builds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392424"/>
            <a:ext cx="4114800" cy="1024128"/>
          </a:xfrm>
          <a:prstGeom prst="rect">
            <a:avLst/>
          </a:prstGeom>
          <a:solidFill>
            <a:srgbClr val="162435"/>
          </a:solidFill>
          <a:ln w="12700">
            <a:solidFill>
              <a:srgbClr val="1E3A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392424"/>
            <a:ext cx="64008" cy="10241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10328" y="3502152"/>
            <a:ext cx="64008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0328" y="35021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DEPLOY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5623560" y="34655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</a:rPr>
              <a:t>Deploy-Ready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10328" y="3776472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Production Dockerfiles, environment variable discipline, GitHub Actions CI, cloud-ready architecture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553712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5902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Merchant360  —  github.com/your-username/merchant360  —  Next.js  Node.js  MongoDB  Keycloak  Apollo GraphQL  Docker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Merchant360 — Product Demo</dc:title>
  <dc:subject>PptxGenJS Presentation</dc:subject>
  <dc:creator>Merchant360</dc:creator>
  <cp:lastModifiedBy>Merchant360</cp:lastModifiedBy>
  <cp:revision>1</cp:revision>
  <dcterms:created xsi:type="dcterms:W3CDTF">2026-05-09T23:06:00Z</dcterms:created>
  <dcterms:modified xsi:type="dcterms:W3CDTF">2026-05-09T23:06:00Z</dcterms:modified>
</cp:coreProperties>
</file>